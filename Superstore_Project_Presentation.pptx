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4F4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4F45"/>
                </a:solidFill>
                <a:latin typeface="Arial"/>
              </a:rPr>
              <a:t>Sales by category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B4F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Furniture</c:v>
                  </c:pt>
                  <c:pt idx="2">
                    <c:v>Office Supplies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836154</c:v>
                </c:pt>
                <c:pt idx="1">
                  <c:v>741718</c:v>
                </c:pt>
                <c:pt idx="2">
                  <c:v>719047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4F4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4F45"/>
                </a:solidFill>
                <a:latin typeface="Arial"/>
              </a:rPr>
              <a:t>Sales by region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B4F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725458</c:v>
                </c:pt>
                <c:pt idx="1">
                  <c:v>678500</c:v>
                </c:pt>
                <c:pt idx="2">
                  <c:v>501240</c:v>
                </c:pt>
                <c:pt idx="3">
                  <c:v>391722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4F4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4F45"/>
                </a:solidFill>
                <a:latin typeface="Arial"/>
              </a:rPr>
              <a:t>Sales by segment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Consumer</c:v>
                  </c:pt>
                  <c:pt idx="1">
                    <c:v>Corporate</c:v>
                  </c:pt>
                  <c:pt idx="2">
                    <c:v>Home Office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1161401</c:v>
                </c:pt>
                <c:pt idx="1">
                  <c:v>706146</c:v>
                </c:pt>
                <c:pt idx="2">
                  <c:v>429372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4F4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4F45"/>
                </a:solidFill>
                <a:latin typeface="Arial"/>
              </a:rPr>
              <a:t>Profit by sub-category (USD)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0B4F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Envelopes</c:v>
                  </c:pt>
                  <c:pt idx="1">
                    <c:v>Furnishings</c:v>
                  </c:pt>
                  <c:pt idx="2">
                    <c:v>Appliances</c:v>
                  </c:pt>
                  <c:pt idx="3">
                    <c:v>Storage</c:v>
                  </c:pt>
                  <c:pt idx="4">
                    <c:v>Chairs</c:v>
                  </c:pt>
                  <c:pt idx="5">
                    <c:v>Binders</c:v>
                  </c:pt>
                  <c:pt idx="6">
                    <c:v>Paper</c:v>
                  </c:pt>
                  <c:pt idx="7">
                    <c:v>Accessories</c:v>
                  </c:pt>
                  <c:pt idx="8">
                    <c:v>Phones</c:v>
                  </c:pt>
                  <c:pt idx="9">
                    <c:v>Copiers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6964</c:v>
                </c:pt>
                <c:pt idx="1">
                  <c:v>13059</c:v>
                </c:pt>
                <c:pt idx="2">
                  <c:v>18138</c:v>
                </c:pt>
                <c:pt idx="3">
                  <c:v>21279</c:v>
                </c:pt>
                <c:pt idx="4">
                  <c:v>26602</c:v>
                </c:pt>
                <c:pt idx="5">
                  <c:v>30222</c:v>
                </c:pt>
                <c:pt idx="6">
                  <c:v>34054</c:v>
                </c:pt>
                <c:pt idx="7">
                  <c:v>41937</c:v>
                </c:pt>
                <c:pt idx="8">
                  <c:v>44516</c:v>
                </c:pt>
                <c:pt idx="9">
                  <c:v>55618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&amp; Profitability Analysis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store make and lose money?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MySQL  ·  Power BI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and 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healthy, but profit is thin and some orders lose money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 we sell and earn, and what is our profit margin?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sub-categories, states and customers cause losses?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discounts protect sales at the cost of profit?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regions, segments and ship modes perform best?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sales and profit change over time?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tools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54403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rows, 21 columns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280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9,993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854403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unique rows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280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2011-2014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854403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orders, 4 regions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74320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matplotlib, seaborn): cleaning and EDA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(SQLAlchemy + PyMySQL): 10 business queries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interactive "Superstore Sales Dashboard"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order and ship dates, customer, segment, location, category, sub-category, sales, quantity, discount, profit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cleaning: a hidden duplicate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990,007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54403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once Row ID is ignored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280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1,421 to 14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854403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 in the largest order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280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854403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74320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ID looked unique, so a normal duplicate check found nothing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had been copied many times with a new row number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drop duplicates on all columns except Row ID, then renumber rows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converted dates, used snake_case column names, loaded into MySQL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$2.30M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03197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280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$286K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803197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280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12.47%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803197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2468880"/>
          <a:ext cx="8046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 and segment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72000" y="109728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East lead; Consumer customers drive about half of all sales.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profitable sub-categories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1887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09360" y="1280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803197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profit: $55.6K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26480" y="246888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Bookcases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083357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 loss-making in EDA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37490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42611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 imageCLASS 2200 copier, $61.6K sales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analysis: 10 business questions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40664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sales, profit and number of 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 of orders running at a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sub-categories with the highest total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most loss-making states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profit by discount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Year-wise profit trend and growth % (LAG)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 profitable and top 5 loss-causing customers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mode with the longest delivery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with over 30% discount that still lose money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with the highest profit margin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 cards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5681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Orders, Sales, Profit, Profit Margin %, Avg Delivery Days, Loss 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801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slicers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95681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Region, Product name, City, State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3464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segment (pie chart)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ship mode (funnel)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and sales by month (area and line charts)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and discount by sub-category (combo chart)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discounts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0627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discount cap and approval for deep discounts, using the discount vs profit analysis.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loss-making products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0627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pricing and cost of Tables and Bookcases, or reduce their discounts.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377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weak regions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84927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margin in low-margin regions and states before pushing more sales.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2860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377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profit makers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84927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stock and promotion on Copiers, Phones and Accessories.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EEF5F3"/>
          </a:solidFill>
          <a:ln w="12700">
            <a:solidFill>
              <a:srgbClr val="EEF5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520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peaks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99227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inventory and delivery for the Nov-Dec sales peak.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next steps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covers 2011-2014 only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counted as rows (line items), not unique order IDs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cost, returns or satisfaction data, so findings show association, not causation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profit prediction model, RFM customer segments, monthly sales forecast, a loss-analysis dashboard page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2026-10-01T13:29:26Z</dcterms:created>
  <dcterms:modified xsi:type="dcterms:W3CDTF">2026-10-01T13:29:26Z</dcterms:modified>
</cp:coreProperties>
</file>